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8" r:id="rId19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60520"/>
            <a:ext cx="12191695" cy="73152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9456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Calibri"/>
              </a:rPr>
              <a:t>Service Desk Ticketing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33756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 i="0">
                <a:solidFill>
                  <a:srgbClr val="D9E1F2"/>
                </a:solidFill>
                <a:latin typeface="Calibri"/>
              </a:rPr>
              <a:t>A multi-tenant support desk we build &amp; own — on Oracle APEX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3434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1">
                <a:solidFill>
                  <a:srgbClr val="D9E1F2"/>
                </a:solidFill>
                <a:latin typeface="Calibri"/>
              </a:rPr>
              <a:t>Team kickoff  ·  3-week hackathon  ·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Why we're building this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13232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>
                <a:solidFill>
                  <a:srgbClr val="D9E1F2"/>
                </a:solidFill>
                <a:latin typeface="Calibri"/>
              </a:rPr>
              <a:t>The pitch in one slide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 b="0">
                <a:solidFill>
                  <a:srgbClr val="1F3864"/>
                </a:solidFill>
                <a:latin typeface="Calibri"/>
              </a:rPr>
              <a:t>• Tools like Jira Service Management are expensive — recurring per-agent cost.</a:t>
            </a:r>
          </a:p>
          <a:p>
            <a:pPr>
              <a:spcAft>
                <a:spcPts val="1200"/>
              </a:spcAft>
            </a:pPr>
            <a:r>
              <a:rPr sz="2000" b="0">
                <a:solidFill>
                  <a:srgbClr val="1F3864"/>
                </a:solidFill>
                <a:latin typeface="Calibri"/>
              </a:rPr>
              <a:t>• We are a vendor: we support multiple client companies every day.</a:t>
            </a:r>
          </a:p>
          <a:p>
            <a:pPr>
              <a:spcAft>
                <a:spcPts val="1200"/>
              </a:spcAft>
            </a:pPr>
            <a:r>
              <a:rPr sz="2000" b="0">
                <a:solidFill>
                  <a:srgbClr val="1F3864"/>
                </a:solidFill>
                <a:latin typeface="Calibri"/>
              </a:rPr>
              <a:t>• Build our own service desk on APEX → own it, brand it, extend it, stop paying.</a:t>
            </a:r>
          </a:p>
          <a:p>
            <a:pPr lvl="1">
              <a:spcAft>
                <a:spcPts val="1200"/>
              </a:spcAft>
            </a:pPr>
            <a:r>
              <a:rPr sz="1800">
                <a:solidFill>
                  <a:srgbClr val="1F3864"/>
                </a:solidFill>
                <a:latin typeface="Calibri"/>
              </a:rPr>
              <a:t>– APEX is the right tool: built-in login, role-based access &amp; reporting.</a:t>
            </a:r>
          </a:p>
          <a:p>
            <a:pPr lvl="1">
              <a:spcAft>
                <a:spcPts val="1200"/>
              </a:spcAft>
            </a:pPr>
            <a:r>
              <a:rPr sz="1800">
                <a:solidFill>
                  <a:srgbClr val="1F3864"/>
                </a:solidFill>
                <a:latin typeface="Calibri"/>
              </a:rPr>
              <a:t>– Strong story for the judges: real business value, not a toy.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595959"/>
                </a:solidFill>
                <a:latin typeface="Calibri"/>
              </a:rPr>
              <a:t>Service Desk Ticketing System  ·  APEX Hackathon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What we're building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13232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>
                <a:solidFill>
                  <a:srgbClr val="D9E1F2"/>
                </a:solidFill>
                <a:latin typeface="Calibri"/>
              </a:rPr>
              <a:t>Multi-tenant = many client companies, isolated from each other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2588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>
                <a:solidFill>
                  <a:srgbClr val="1F3864"/>
                </a:solidFill>
                <a:latin typeface="Calibri"/>
              </a:rPr>
              <a:t>Clients raise tickets → our agents triage, assign &amp; resolve → managers oversee everything.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468880"/>
            <a:ext cx="2697480" cy="109728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Role-based access</a:t>
            </a:r>
          </a:p>
        </p:txBody>
      </p:sp>
      <p:sp>
        <p:nvSpPr>
          <p:cNvPr id="8" name="Rectangle 7"/>
          <p:cNvSpPr/>
          <p:nvPr/>
        </p:nvSpPr>
        <p:spPr>
          <a:xfrm>
            <a:off x="3429000" y="2468880"/>
            <a:ext cx="2697480" cy="109728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Multiple companies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2468880"/>
            <a:ext cx="2697480" cy="109728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Ticket assignment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9006840" y="2468880"/>
            <a:ext cx="2697480" cy="109728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Dashboard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79476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1">
                <a:solidFill>
                  <a:srgbClr val="595959"/>
                </a:solidFill>
                <a:latin typeface="Calibri"/>
              </a:rPr>
              <a:t>↑ The four things the judges explicitly asked for. These are non-negotiable.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480560"/>
            <a:ext cx="109728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>
                <a:solidFill>
                  <a:srgbClr val="C5500D"/>
                </a:solidFill>
                <a:latin typeface="Calibri"/>
              </a:rPr>
              <a:t>Most important rule: a client must NEVER see another client's tickets.
That single guarantee is what makes a judge believe "production-level".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595959"/>
                </a:solidFill>
                <a:latin typeface="Calibri"/>
              </a:rPr>
              <a:t>Service Desk Ticketing System  ·  APEX Hackathon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Four roles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13232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>
                <a:solidFill>
                  <a:srgbClr val="D9E1F2"/>
                </a:solidFill>
                <a:latin typeface="Calibri"/>
              </a:rPr>
              <a:t>Who can see and do what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371600"/>
            <a:ext cx="2468880" cy="105156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481328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Client User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938528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1">
                <a:solidFill>
                  <a:srgbClr val="D9E1F2"/>
                </a:solidFill>
                <a:latin typeface="Calibri"/>
              </a:rPr>
              <a:t>Client side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0" y="1463040"/>
            <a:ext cx="841248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 i="0">
                <a:solidFill>
                  <a:srgbClr val="1F3864"/>
                </a:solidFill>
                <a:latin typeface="Calibri"/>
              </a:rPr>
              <a:t>Sees only their OWN tickets. Raise, comment, track.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578608"/>
            <a:ext cx="2468880" cy="105156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688336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Client Admin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145536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1">
                <a:solidFill>
                  <a:srgbClr val="D9E1F2"/>
                </a:solidFill>
                <a:latin typeface="Calibri"/>
              </a:rPr>
              <a:t>Client side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0" y="2670048"/>
            <a:ext cx="841248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 i="0">
                <a:solidFill>
                  <a:srgbClr val="1F3864"/>
                </a:solidFill>
                <a:latin typeface="Calibri"/>
              </a:rPr>
              <a:t>Sees ALL of their company's tickets. Oversees their staff.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785616"/>
            <a:ext cx="2468880" cy="105156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895344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Support Agent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352544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1">
                <a:solidFill>
                  <a:srgbClr val="D9E1F2"/>
                </a:solidFill>
                <a:latin typeface="Calibri"/>
              </a:rPr>
              <a:t>Our side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91840" y="3877056"/>
            <a:ext cx="841248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 i="0">
                <a:solidFill>
                  <a:srgbClr val="1F3864"/>
                </a:solidFill>
                <a:latin typeface="Calibri"/>
              </a:rPr>
              <a:t>Works tickets for their ASSIGNED PROJECTS only (clients they cover): status, comments, resolve.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992624"/>
            <a:ext cx="2468880" cy="105156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5102352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System Admin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559552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1">
                <a:solidFill>
                  <a:srgbClr val="D9E1F2"/>
                </a:solidFill>
                <a:latin typeface="Calibri"/>
              </a:rPr>
              <a:t>Our side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91840" y="5084064"/>
            <a:ext cx="841248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 i="0">
                <a:solidFill>
                  <a:srgbClr val="1F3864"/>
                </a:solidFill>
                <a:latin typeface="Calibri"/>
              </a:rPr>
              <a:t>Everything: manage companies/users, ASSIGN tickets, dashboards.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595959"/>
                </a:solidFill>
                <a:latin typeface="Calibri"/>
              </a:rPr>
              <a:t>Service Desk Ticketing System  ·  APEX Hackathon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How we'll work 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13232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>
                <a:solidFill>
                  <a:srgbClr val="D9E1F2"/>
                </a:solidFill>
                <a:latin typeface="Calibri"/>
              </a:rPr>
              <a:t>The order we design in — each step feeds the next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109728" cy="91440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63040"/>
            <a:ext cx="457200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 i="0">
                <a:solidFill>
                  <a:srgbClr val="1F3864"/>
                </a:solidFill>
                <a:latin typeface="Calibri"/>
              </a:rPr>
              <a:t>1.  Functional requirements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0" y="1463040"/>
            <a:ext cx="603504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 i="0">
                <a:solidFill>
                  <a:srgbClr val="595959"/>
                </a:solidFill>
                <a:latin typeface="Calibri"/>
              </a:rPr>
              <a:t>WHAT the system must let people do — the contract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560320"/>
            <a:ext cx="109728" cy="91440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560320"/>
            <a:ext cx="457200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 i="0">
                <a:solidFill>
                  <a:srgbClr val="1F3864"/>
                </a:solidFill>
                <a:latin typeface="Calibri"/>
              </a:rPr>
              <a:t>2.  Workflow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0" y="2560320"/>
            <a:ext cx="603504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 i="0">
                <a:solidFill>
                  <a:srgbClr val="595959"/>
                </a:solidFill>
                <a:latin typeface="Calibri"/>
              </a:rPr>
              <a:t>How a ticket behaves from New → Closed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657600"/>
            <a:ext cx="109728" cy="91440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657600"/>
            <a:ext cx="457200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 i="0">
                <a:solidFill>
                  <a:srgbClr val="1F3864"/>
                </a:solidFill>
                <a:latin typeface="Calibri"/>
              </a:rPr>
              <a:t>3.  Database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3657600"/>
            <a:ext cx="603504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 i="0">
                <a:solidFill>
                  <a:srgbClr val="595959"/>
                </a:solidFill>
                <a:latin typeface="Calibri"/>
              </a:rPr>
              <a:t>The tables that store it (APEX is database-first)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754880"/>
            <a:ext cx="109728" cy="91440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754880"/>
            <a:ext cx="457200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 i="0">
                <a:solidFill>
                  <a:srgbClr val="1F3864"/>
                </a:solidFill>
                <a:latin typeface="Calibri"/>
              </a:rPr>
              <a:t>4.  Goals &amp; tasks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0" y="4754880"/>
            <a:ext cx="603504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 i="0">
                <a:solidFill>
                  <a:srgbClr val="595959"/>
                </a:solidFill>
                <a:latin typeface="Calibri"/>
              </a:rPr>
              <a:t>Only then: split the work across the team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595959"/>
                </a:solidFill>
                <a:latin typeface="Calibri"/>
              </a:rPr>
              <a:t>Service Desk Ticketing System  ·  APEX Hackathon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Scope — what's in, what's out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13232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>
                <a:solidFill>
                  <a:srgbClr val="D9E1F2"/>
                </a:solidFill>
                <a:latin typeface="Calibri"/>
              </a:rPr>
              <a:t>Protect a working demo over adding features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371600"/>
            <a:ext cx="3611880" cy="640080"/>
          </a:xfrm>
          <a:prstGeom prst="rect">
            <a:avLst/>
          </a:prstGeom>
          <a:solidFill>
            <a:srgbClr val="377D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426464"/>
            <a:ext cx="36118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MUST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57400"/>
            <a:ext cx="3611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 i="1">
                <a:solidFill>
                  <a:srgbClr val="595959"/>
                </a:solidFill>
                <a:latin typeface="Calibri"/>
              </a:rPr>
              <a:t>This IS the product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560320"/>
            <a:ext cx="33375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Companies + users + roles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Login &amp; tenant isolation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Create / view / edit ticket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Assign to an agent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Comments + history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Dashboard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34840" y="1371600"/>
            <a:ext cx="3611880" cy="640080"/>
          </a:xfrm>
          <a:prstGeom prst="rect">
            <a:avLst/>
          </a:prstGeom>
          <a:solidFill>
            <a:srgbClr val="BF8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34840" y="1426464"/>
            <a:ext cx="36118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SHOULD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2057400"/>
            <a:ext cx="3611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 i="1">
                <a:solidFill>
                  <a:srgbClr val="595959"/>
                </a:solidFill>
                <a:latin typeface="Calibri"/>
              </a:rPr>
              <a:t>Breadth + polish points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2560320"/>
            <a:ext cx="33375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Categories &amp; priorities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Filtering &amp; search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Branded UI theme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Assignment notification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CSAT rating (stars)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Dashboard analytics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Auto-ack email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Escalate action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0" y="1371600"/>
            <a:ext cx="3611880" cy="640080"/>
          </a:xfrm>
          <a:prstGeom prst="rect">
            <a:avLst/>
          </a:prstGeom>
          <a:solidFill>
            <a:srgbClr val="C550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0" y="1426464"/>
            <a:ext cx="36118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COULD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2057400"/>
            <a:ext cx="3611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 i="1">
                <a:solidFill>
                  <a:srgbClr val="595959"/>
                </a:solidFill>
                <a:latin typeface="Calibri"/>
              </a:rPr>
              <a:t>Only if ahead — don't commit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2560320"/>
            <a:ext cx="33375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SLA highlight (no timers)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AI category suggest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File attachments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Knowledge base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595959"/>
                </a:solidFill>
                <a:latin typeface="Calibri"/>
              </a:rPr>
              <a:t>Service Desk Ticketing System  ·  APEX Hackathon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Ticket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13232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>
                <a:solidFill>
                  <a:srgbClr val="D9E1F2"/>
                </a:solidFill>
                <a:latin typeface="Calibri"/>
              </a:rPr>
              <a:t>The life of a ticket — every change is logged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377440"/>
            <a:ext cx="1965960" cy="91440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633472"/>
            <a:ext cx="1965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New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14600" y="2560320"/>
            <a:ext cx="320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>
                <a:solidFill>
                  <a:srgbClr val="1F3864"/>
                </a:solidFill>
                <a:latin typeface="Calibri"/>
              </a:rPr>
              <a:t>→</a:t>
            </a:r>
          </a:p>
        </p:txBody>
      </p:sp>
      <p:sp>
        <p:nvSpPr>
          <p:cNvPr id="9" name="Rectangle 8"/>
          <p:cNvSpPr/>
          <p:nvPr/>
        </p:nvSpPr>
        <p:spPr>
          <a:xfrm>
            <a:off x="2834640" y="2377440"/>
            <a:ext cx="1965960" cy="91440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34640" y="2633472"/>
            <a:ext cx="1965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Assigned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00600" y="2560320"/>
            <a:ext cx="320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>
                <a:solidFill>
                  <a:srgbClr val="1F3864"/>
                </a:solidFill>
                <a:latin typeface="Calibri"/>
              </a:rP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20640" y="2377440"/>
            <a:ext cx="1965960" cy="91440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0" y="2633472"/>
            <a:ext cx="1965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In Progress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86600" y="2560320"/>
            <a:ext cx="320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>
                <a:solidFill>
                  <a:srgbClr val="1F3864"/>
                </a:solidFill>
                <a:latin typeface="Calibri"/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06640" y="2377440"/>
            <a:ext cx="1965960" cy="91440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06640" y="2633472"/>
            <a:ext cx="1965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Resolved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72600" y="2560320"/>
            <a:ext cx="320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>
                <a:solidFill>
                  <a:srgbClr val="1F3864"/>
                </a:solidFill>
                <a:latin typeface="Calibri"/>
              </a:rP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692640" y="2377440"/>
            <a:ext cx="1965960" cy="91440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92640" y="2633472"/>
            <a:ext cx="1965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Closed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3749039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1">
                <a:solidFill>
                  <a:srgbClr val="595959"/>
                </a:solidFill>
                <a:latin typeface="Calibri"/>
              </a:rPr>
              <a:t>Optional extras (decide today): On Hold (pause) · Reopen (client says not fixed)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438912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1F3864"/>
                </a:solidFill>
                <a:latin typeface="Calibri"/>
              </a:rPr>
              <a:t>• Client raises → Admin assigns an agent → agent works &amp; resolves → client confirms close.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F3864"/>
                </a:solidFill>
                <a:latin typeface="Calibri"/>
              </a:rPr>
              <a:t>• Only certain roles can make each move. Every move is written to ticket history.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595959"/>
                </a:solidFill>
                <a:latin typeface="Calibri"/>
              </a:rPr>
              <a:t>Service Desk Ticketing System  ·  APEX Hackathon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Data model (7 tables)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13232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>
                <a:solidFill>
                  <a:srgbClr val="D9E1F2"/>
                </a:solidFill>
                <a:latin typeface="Calibri"/>
              </a:rPr>
              <a:t>Get this right and the screens almost build themselves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371600"/>
            <a:ext cx="2926080" cy="603504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490472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COMPANIES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49039" y="1417320"/>
            <a:ext cx="78638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 i="0">
                <a:solidFill>
                  <a:srgbClr val="1F3864"/>
                </a:solidFill>
                <a:latin typeface="Calibri"/>
              </a:rPr>
              <a:t>vendor + each client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029967"/>
            <a:ext cx="2926080" cy="603504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148839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APP_USERS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2075687"/>
            <a:ext cx="78638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 i="0">
                <a:solidFill>
                  <a:srgbClr val="1F3864"/>
                </a:solidFill>
                <a:latin typeface="Calibri"/>
              </a:rPr>
              <a:t>everyone who logs in (role + company)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2688336"/>
            <a:ext cx="2926080" cy="603504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2807208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TICKETS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49039" y="2734056"/>
            <a:ext cx="78638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 i="0">
                <a:solidFill>
                  <a:srgbClr val="1F3864"/>
                </a:solidFill>
                <a:latin typeface="Calibri"/>
              </a:rPr>
              <a:t>the requests (the tenant key lives here)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346704"/>
            <a:ext cx="2926080" cy="603504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3465576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TICKET_COMMENTS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3392424"/>
            <a:ext cx="78638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 i="0">
                <a:solidFill>
                  <a:srgbClr val="1F3864"/>
                </a:solidFill>
                <a:latin typeface="Calibri"/>
              </a:rPr>
              <a:t>the conversation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005072"/>
            <a:ext cx="2926080" cy="603504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123944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TICKET_HISTORY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49039" y="4050791"/>
            <a:ext cx="78638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 i="0">
                <a:solidFill>
                  <a:srgbClr val="1F3864"/>
                </a:solidFill>
                <a:latin typeface="Calibri"/>
              </a:rPr>
              <a:t>audit trail of every change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4663440"/>
            <a:ext cx="2926080" cy="603504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4782312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CATEGORIES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49039" y="4709159"/>
            <a:ext cx="78638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 i="0">
                <a:solidFill>
                  <a:srgbClr val="1F3864"/>
                </a:solidFill>
                <a:latin typeface="Calibri"/>
              </a:rPr>
              <a:t>ticket types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94360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C5500D"/>
                </a:solidFill>
                <a:latin typeface="Calibri"/>
              </a:rPr>
              <a:t>Every ticket carries a company_id — that keeps clients isolated. Agents are further scoped to their projects via AGENT_COMPANIES.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595959"/>
                </a:solidFill>
                <a:latin typeface="Calibri"/>
              </a:rPr>
              <a:t>Service Desk Ticketing System  ·  APEX Hackathon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Calibri"/>
              </a:rPr>
              <a:t>8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5321808"/>
            <a:ext cx="2926080" cy="603504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440680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AGENT_COMPANIES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49039" y="5367528"/>
            <a:ext cx="78638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 i="0">
                <a:solidFill>
                  <a:srgbClr val="1F3864"/>
                </a:solidFill>
                <a:latin typeface="Calibri"/>
              </a:rPr>
              <a:t>which clients (projects) each agent covers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88952" cy="54864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APEX page architecture — the screens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13232"/>
            <a:ext cx="109728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0">
                <a:solidFill>
                  <a:srgbClr val="D9E1F2"/>
                </a:solidFill>
                <a:latin typeface="Calibri"/>
              </a:rPr>
              <a:t>One page serves many roles · authorization + WHERE company_id · 12 pages → 10 MUST, 2 SHOULD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371600"/>
          <a:ext cx="11018520" cy="44439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/>
                <a:gridCol w="365760"/>
                <a:gridCol w="2331720"/>
                <a:gridCol w="2514600"/>
                <a:gridCol w="3611880"/>
                <a:gridCol w="777240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anchor="ctr" marL="64008" marR="45720" marT="18288" marB="18288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anchor="ctr" marL="64008" marR="45720" marT="18288" marB="18288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Page</a:t>
                      </a:r>
                    </a:p>
                  </a:txBody>
                  <a:tcPr anchor="ctr" marL="64008" marR="45720" marT="18288" marB="18288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APEX page type</a:t>
                      </a:r>
                    </a:p>
                  </a:txBody>
                  <a:tcPr anchor="ctr" marL="64008" marR="45720" marT="18288" marB="18288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Who · scope</a:t>
                      </a:r>
                    </a:p>
                  </a:txBody>
                  <a:tcPr anchor="ctr" marL="64008" marR="45720" marT="18288" marB="18288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Priority</a:t>
                      </a:r>
                    </a:p>
                  </a:txBody>
                  <a:tcPr anchor="ctr" marL="64008" marR="45720" marT="18288" marB="18288">
                    <a:solidFill>
                      <a:srgbClr val="1F3864"/>
                    </a:solidFill>
                  </a:tcPr>
                </a:tc>
              </a:tr>
              <a:tr h="338328">
                <a:tc rowSpan="2"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Auth &amp; Shell</a:t>
                      </a:r>
                    </a:p>
                  </a:txBody>
                  <a:tcPr anchor="ctr" marL="64008" marR="45720" marT="18288" marB="18288">
                    <a:solidFill>
                      <a:srgbClr val="2E549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E5496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F3864"/>
                          </a:solidFill>
                          <a:latin typeface="Calibri"/>
                        </a:rPr>
                        <a:t>Login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595959"/>
                          </a:solidFill>
                          <a:latin typeface="Calibri"/>
                        </a:rPr>
                        <a:t>Login Page (built-in)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A4A"/>
                          </a:solidFill>
                          <a:latin typeface="Calibri"/>
                        </a:rPr>
                        <a:t>All roles · Shared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B6B3A"/>
                          </a:solidFill>
                          <a:latin typeface="Calibri"/>
                        </a:rPr>
                        <a:t>MUST</a:t>
                      </a:r>
                    </a:p>
                  </a:txBody>
                  <a:tcPr anchor="ctr" marL="64008" marR="45720" marT="18288" marB="18288">
                    <a:solidFill>
                      <a:srgbClr val="C6EFCE"/>
                    </a:solidFill>
                  </a:tcPr>
                </a:tc>
              </a:tr>
              <a:tr h="338328">
                <a:tc vMerge="1">
                  <a:txBody>
                    <a:bodyPr/>
                    <a:lstStyle/>
                    <a:p/>
                  </a:txBody>
                  <a:tcPr>
                    <a:solidFill>
                      <a:srgbClr val="2E549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E5496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F3864"/>
                          </a:solidFill>
                          <a:latin typeface="Calibri"/>
                        </a:rPr>
                        <a:t>Home / Landing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595959"/>
                          </a:solidFill>
                          <a:latin typeface="Calibri"/>
                        </a:rPr>
                        <a:t>Blank / redirect or Cards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A4A"/>
                          </a:solidFill>
                          <a:latin typeface="Calibri"/>
                        </a:rPr>
                        <a:t>All roles · Shared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B6B3A"/>
                          </a:solidFill>
                          <a:latin typeface="Calibri"/>
                        </a:rPr>
                        <a:t>MUST</a:t>
                      </a:r>
                    </a:p>
                  </a:txBody>
                  <a:tcPr anchor="ctr" marL="64008" marR="45720" marT="18288" marB="18288">
                    <a:solidFill>
                      <a:srgbClr val="C6EFCE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Dashboard</a:t>
                      </a:r>
                    </a:p>
                  </a:txBody>
                  <a:tcPr anchor="ctr" marL="64008" marR="45720" marT="18288" marB="18288">
                    <a:solidFill>
                      <a:srgbClr val="2E549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E5496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F3864"/>
                          </a:solidFill>
                          <a:latin typeface="Calibri"/>
                        </a:rPr>
                        <a:t>Dashboard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595959"/>
                          </a:solidFill>
                          <a:latin typeface="Calibri"/>
                        </a:rPr>
                        <a:t>Cards + Chart regions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A4A"/>
                          </a:solidFill>
                          <a:latin typeface="Calibri"/>
                        </a:rPr>
                        <a:t>All roles · Shared, role-filtered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B6B3A"/>
                          </a:solidFill>
                          <a:latin typeface="Calibri"/>
                        </a:rPr>
                        <a:t>MUST</a:t>
                      </a:r>
                    </a:p>
                  </a:txBody>
                  <a:tcPr anchor="ctr" marL="64008" marR="45720" marT="18288" marB="18288">
                    <a:solidFill>
                      <a:srgbClr val="C6EFCE"/>
                    </a:solidFill>
                  </a:tcPr>
                </a:tc>
              </a:tr>
              <a:tr h="338328">
                <a:tc rowSpan="5"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Tickets — the core</a:t>
                      </a:r>
                    </a:p>
                  </a:txBody>
                  <a:tcPr anchor="ctr" marL="64008" marR="45720" marT="18288" marB="18288">
                    <a:solidFill>
                      <a:srgbClr val="2E549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E5496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F3864"/>
                          </a:solidFill>
                          <a:latin typeface="Calibri"/>
                        </a:rPr>
                        <a:t>Ticket List / Queue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595959"/>
                          </a:solidFill>
                          <a:latin typeface="Calibri"/>
                        </a:rPr>
                        <a:t>Faceted Search (or IR)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A4A"/>
                          </a:solidFill>
                          <a:latin typeface="Calibri"/>
                        </a:rPr>
                        <a:t>All roles · Shared, filtered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B6B3A"/>
                          </a:solidFill>
                          <a:latin typeface="Calibri"/>
                        </a:rPr>
                        <a:t>MUST</a:t>
                      </a:r>
                    </a:p>
                  </a:txBody>
                  <a:tcPr anchor="ctr" marL="64008" marR="45720" marT="18288" marB="18288">
                    <a:solidFill>
                      <a:srgbClr val="C6EFCE"/>
                    </a:solidFill>
                  </a:tcPr>
                </a:tc>
              </a:tr>
              <a:tr h="338328">
                <a:tc vMerge="1">
                  <a:txBody>
                    <a:bodyPr/>
                    <a:lstStyle/>
                    <a:p/>
                  </a:txBody>
                  <a:tcPr>
                    <a:solidFill>
                      <a:srgbClr val="2E549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E5496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F3864"/>
                          </a:solidFill>
                          <a:latin typeface="Calibri"/>
                        </a:rPr>
                        <a:t>Ticket Detail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595959"/>
                          </a:solidFill>
                          <a:latin typeface="Calibri"/>
                        </a:rPr>
                        <a:t>Form + Comments &amp; History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A4A"/>
                          </a:solidFill>
                          <a:latin typeface="Calibri"/>
                        </a:rPr>
                        <a:t>All roles · Shared, gated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B6B3A"/>
                          </a:solidFill>
                          <a:latin typeface="Calibri"/>
                        </a:rPr>
                        <a:t>MUST</a:t>
                      </a:r>
                    </a:p>
                  </a:txBody>
                  <a:tcPr anchor="ctr" marL="64008" marR="45720" marT="18288" marB="18288">
                    <a:solidFill>
                      <a:srgbClr val="C6EFCE"/>
                    </a:solidFill>
                  </a:tcPr>
                </a:tc>
              </a:tr>
              <a:tr h="338328">
                <a:tc vMerge="1">
                  <a:txBody>
                    <a:bodyPr/>
                    <a:lstStyle/>
                    <a:p/>
                  </a:txBody>
                  <a:tcPr>
                    <a:solidFill>
                      <a:srgbClr val="2E549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E5496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F3864"/>
                          </a:solidFill>
                          <a:latin typeface="Calibri"/>
                        </a:rPr>
                        <a:t>Create / Raise Ticket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595959"/>
                          </a:solidFill>
                          <a:latin typeface="Calibri"/>
                        </a:rPr>
                        <a:t>Form (Modal Dialog)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A4A"/>
                          </a:solidFill>
                          <a:latin typeface="Calibri"/>
                        </a:rPr>
                        <a:t>Client User / Admin · Role-specific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B6B3A"/>
                          </a:solidFill>
                          <a:latin typeface="Calibri"/>
                        </a:rPr>
                        <a:t>MUST</a:t>
                      </a:r>
                    </a:p>
                  </a:txBody>
                  <a:tcPr anchor="ctr" marL="64008" marR="45720" marT="18288" marB="18288">
                    <a:solidFill>
                      <a:srgbClr val="C6EFCE"/>
                    </a:solidFill>
                  </a:tcPr>
                </a:tc>
              </a:tr>
              <a:tr h="338328">
                <a:tc vMerge="1">
                  <a:txBody>
                    <a:bodyPr/>
                    <a:lstStyle/>
                    <a:p/>
                  </a:txBody>
                  <a:tcPr>
                    <a:solidFill>
                      <a:srgbClr val="2E549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E5496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F3864"/>
                          </a:solidFill>
                          <a:latin typeface="Calibri"/>
                        </a:rPr>
                        <a:t>Assign / Reassign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595959"/>
                          </a:solidFill>
                          <a:latin typeface="Calibri"/>
                        </a:rPr>
                        <a:t>Form (Modal Dialog)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A4A"/>
                          </a:solidFill>
                          <a:latin typeface="Calibri"/>
                        </a:rPr>
                        <a:t>System Admin · Role-specific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B6B3A"/>
                          </a:solidFill>
                          <a:latin typeface="Calibri"/>
                        </a:rPr>
                        <a:t>MUST</a:t>
                      </a:r>
                    </a:p>
                  </a:txBody>
                  <a:tcPr anchor="ctr" marL="64008" marR="45720" marT="18288" marB="18288">
                    <a:solidFill>
                      <a:srgbClr val="C6EFCE"/>
                    </a:solidFill>
                  </a:tcPr>
                </a:tc>
              </a:tr>
              <a:tr h="338328">
                <a:tc vMerge="1">
                  <a:txBody>
                    <a:bodyPr/>
                    <a:lstStyle/>
                    <a:p/>
                  </a:txBody>
                  <a:tcPr>
                    <a:solidFill>
                      <a:srgbClr val="2E549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E5496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F3864"/>
                          </a:solidFill>
                          <a:latin typeface="Calibri"/>
                        </a:rPr>
                        <a:t>Add Comment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595959"/>
                          </a:solidFill>
                          <a:latin typeface="Calibri"/>
                        </a:rPr>
                        <a:t>Form (Modal Dialog)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A4A"/>
                          </a:solidFill>
                          <a:latin typeface="Calibri"/>
                        </a:rPr>
                        <a:t>All roles · Shared, gated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B6B3A"/>
                          </a:solidFill>
                          <a:latin typeface="Calibri"/>
                        </a:rPr>
                        <a:t>MUST</a:t>
                      </a:r>
                    </a:p>
                  </a:txBody>
                  <a:tcPr anchor="ctr" marL="64008" marR="45720" marT="18288" marB="18288">
                    <a:solidFill>
                      <a:srgbClr val="C6EFCE"/>
                    </a:solidFill>
                  </a:tcPr>
                </a:tc>
              </a:tr>
              <a:tr h="338328">
                <a:tc rowSpan="2"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Admin</a:t>
                      </a:r>
                    </a:p>
                  </a:txBody>
                  <a:tcPr anchor="ctr" marL="64008" marR="45720" marT="18288" marB="18288">
                    <a:solidFill>
                      <a:srgbClr val="2E549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E5496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F3864"/>
                          </a:solidFill>
                          <a:latin typeface="Calibri"/>
                        </a:rPr>
                        <a:t>Companies (manage)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595959"/>
                          </a:solidFill>
                          <a:latin typeface="Calibri"/>
                        </a:rPr>
                        <a:t>Interactive Grid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A4A"/>
                          </a:solidFill>
                          <a:latin typeface="Calibri"/>
                        </a:rPr>
                        <a:t>System Admin only · Role-specific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B6B3A"/>
                          </a:solidFill>
                          <a:latin typeface="Calibri"/>
                        </a:rPr>
                        <a:t>MUST</a:t>
                      </a:r>
                    </a:p>
                  </a:txBody>
                  <a:tcPr anchor="ctr" marL="64008" marR="45720" marT="18288" marB="18288">
                    <a:solidFill>
                      <a:srgbClr val="C6EFCE"/>
                    </a:solidFill>
                  </a:tcPr>
                </a:tc>
              </a:tr>
              <a:tr h="338328">
                <a:tc vMerge="1">
                  <a:txBody>
                    <a:bodyPr/>
                    <a:lstStyle/>
                    <a:p/>
                  </a:txBody>
                  <a:tcPr>
                    <a:solidFill>
                      <a:srgbClr val="2E549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E5496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F3864"/>
                          </a:solidFill>
                          <a:latin typeface="Calibri"/>
                        </a:rPr>
                        <a:t>Users (manage)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595959"/>
                          </a:solidFill>
                          <a:latin typeface="Calibri"/>
                        </a:rPr>
                        <a:t>Interactive Grid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A4A"/>
                          </a:solidFill>
                          <a:latin typeface="Calibri"/>
                        </a:rPr>
                        <a:t>System Admin only · Role-specific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B6B3A"/>
                          </a:solidFill>
                          <a:latin typeface="Calibri"/>
                        </a:rPr>
                        <a:t>MUST</a:t>
                      </a:r>
                    </a:p>
                  </a:txBody>
                  <a:tcPr anchor="ctr" marL="64008" marR="45720" marT="18288" marB="18288">
                    <a:solidFill>
                      <a:srgbClr val="C6EFCE"/>
                    </a:solidFill>
                  </a:tcPr>
                </a:tc>
              </a:tr>
              <a:tr h="338328">
                <a:tc rowSpan="2"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Supporting</a:t>
                      </a:r>
                    </a:p>
                  </a:txBody>
                  <a:tcPr anchor="ctr" marL="64008" marR="45720" marT="18288" marB="18288">
                    <a:solidFill>
                      <a:srgbClr val="2E549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E5496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F3864"/>
                          </a:solidFill>
                          <a:latin typeface="Calibri"/>
                        </a:rPr>
                        <a:t>Categories (manage)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595959"/>
                          </a:solidFill>
                          <a:latin typeface="Calibri"/>
                        </a:rPr>
                        <a:t>Interactive Grid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A4A"/>
                          </a:solidFill>
                          <a:latin typeface="Calibri"/>
                        </a:rPr>
                        <a:t>System Admin · Role-specific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7A5C00"/>
                          </a:solidFill>
                          <a:latin typeface="Calibri"/>
                        </a:rPr>
                        <a:t>SHOULD</a:t>
                      </a:r>
                    </a:p>
                  </a:txBody>
                  <a:tcPr anchor="ctr" marL="64008" marR="45720" marT="18288" marB="18288">
                    <a:solidFill>
                      <a:srgbClr val="FFEB9C"/>
                    </a:solidFill>
                  </a:tcPr>
                </a:tc>
              </a:tr>
              <a:tr h="338328">
                <a:tc vMerge="1">
                  <a:txBody>
                    <a:bodyPr/>
                    <a:lstStyle/>
                    <a:p/>
                  </a:txBody>
                  <a:tcPr>
                    <a:solidFill>
                      <a:srgbClr val="2E549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E5496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F3864"/>
                          </a:solidFill>
                          <a:latin typeface="Calibri"/>
                        </a:rPr>
                        <a:t>My Profile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595959"/>
                          </a:solidFill>
                          <a:latin typeface="Calibri"/>
                        </a:rPr>
                        <a:t>Form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A4A"/>
                          </a:solidFill>
                          <a:latin typeface="Calibri"/>
                        </a:rPr>
                        <a:t>All roles · Shared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7A5C00"/>
                          </a:solidFill>
                          <a:latin typeface="Calibri"/>
                        </a:rPr>
                        <a:t>SHOULD</a:t>
                      </a:r>
                    </a:p>
                  </a:txBody>
                  <a:tcPr anchor="ctr" marL="64008" marR="45720" marT="18288" marB="18288">
                    <a:solidFill>
                      <a:srgbClr val="FFEB9C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989320"/>
            <a:ext cx="110642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C5500D"/>
                </a:solidFill>
                <a:latin typeface="Calibri"/>
              </a:rPr>
              <a:t>Demo needs only the 10 MUST pages. Status changes, comments &amp; history = buttons/regions on Ticket Detail — not pages.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Calibri"/>
              </a:rPr>
              <a:t>Service Desk Ticketing System  ·  APEX Hackathon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3-week 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13232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>
                <a:solidFill>
                  <a:srgbClr val="D9E1F2"/>
                </a:solidFill>
                <a:latin typeface="Calibri"/>
              </a:rPr>
              <a:t>Always have something that works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371600"/>
            <a:ext cx="3611880" cy="68580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444752"/>
            <a:ext cx="36118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Week 1 — Foundation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240280"/>
            <a:ext cx="33375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Data model + login + roles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Tenant isolation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One end-to-end slice: raise → view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Goal: prove the architecture</a:t>
            </a:r>
          </a:p>
        </p:txBody>
      </p:sp>
      <p:sp>
        <p:nvSpPr>
          <p:cNvPr id="9" name="Rectangle 8"/>
          <p:cNvSpPr/>
          <p:nvPr/>
        </p:nvSpPr>
        <p:spPr>
          <a:xfrm>
            <a:off x="4434840" y="1371600"/>
            <a:ext cx="3611880" cy="68580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34840" y="1444752"/>
            <a:ext cx="36118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Week 2 — Core features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2240280"/>
            <a:ext cx="33375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Assignment + full workflow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Comments + history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Ticket lists + dashboard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Goal: all MUSTs done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0" y="1371600"/>
            <a:ext cx="3611880" cy="68580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0" y="1444752"/>
            <a:ext cx="36118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Week 3 — Polish &amp; demo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2240280"/>
            <a:ext cx="33375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Categories, filtering, theme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Notifications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Hard testing (isolation!)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Goal: rehearse a flawless demo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595959"/>
                </a:solidFill>
                <a:latin typeface="Calibri"/>
              </a:rPr>
              <a:t>Service Desk Ticketing System  ·  APEX Hackathon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Who owns what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13232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>
                <a:solidFill>
                  <a:srgbClr val="D9E1F2"/>
                </a:solidFill>
                <a:latin typeface="Calibri"/>
              </a:rPr>
              <a:t>Mixed team — everyone owns something real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325880"/>
            <a:ext cx="3200400" cy="86868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417320"/>
            <a:ext cx="30175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Data model &amp; security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0" y="1371600"/>
            <a:ext cx="27432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 i="0">
                <a:solidFill>
                  <a:srgbClr val="595959"/>
                </a:solidFill>
                <a:latin typeface="Calibri"/>
              </a:rPr>
              <a:t>Strongest dev(s)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1371600"/>
            <a:ext cx="48463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 i="0">
                <a:solidFill>
                  <a:srgbClr val="1F3864"/>
                </a:solidFill>
                <a:latin typeface="Calibri"/>
              </a:rPr>
              <a:t>Tables, login, roles, isolation — do first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313432"/>
            <a:ext cx="3200400" cy="86868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404872"/>
            <a:ext cx="30175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Ticket screens &amp; workflow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23360" y="2359152"/>
            <a:ext cx="27432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 i="0">
                <a:solidFill>
                  <a:srgbClr val="595959"/>
                </a:solidFill>
                <a:latin typeface="Calibri"/>
              </a:rPr>
              <a:t>Dev(s)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2359152"/>
            <a:ext cx="48463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 i="0">
                <a:solidFill>
                  <a:srgbClr val="1F3864"/>
                </a:solidFill>
                <a:latin typeface="Calibri"/>
              </a:rPr>
              <a:t>Create/view/edit, assign, status, comments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300984"/>
            <a:ext cx="3200400" cy="86868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392424"/>
            <a:ext cx="30175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Dashboard &amp; reporting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23360" y="3346704"/>
            <a:ext cx="27432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 i="0">
                <a:solidFill>
                  <a:srgbClr val="595959"/>
                </a:solidFill>
                <a:latin typeface="Calibri"/>
              </a:rPr>
              <a:t>Dev or confident non-dev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0" y="3346704"/>
            <a:ext cx="48463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 i="0">
                <a:solidFill>
                  <a:srgbClr val="1F3864"/>
                </a:solidFill>
                <a:latin typeface="Calibri"/>
              </a:rPr>
              <a:t>Charts + filtered lists (mostly declarative)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288536"/>
            <a:ext cx="3200400" cy="86868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379976"/>
            <a:ext cx="30175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UI/UX, theme &amp; test data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23360" y="4334256"/>
            <a:ext cx="27432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 i="0">
                <a:solidFill>
                  <a:srgbClr val="595959"/>
                </a:solidFill>
                <a:latin typeface="Calibri"/>
              </a:rPr>
              <a:t>Non-dev(s)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0" y="4334256"/>
            <a:ext cx="48463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 i="0">
                <a:solidFill>
                  <a:srgbClr val="1F3864"/>
                </a:solidFill>
                <a:latin typeface="Calibri"/>
              </a:rPr>
              <a:t>Branding, navigation, realistic sample data, testing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5276088"/>
            <a:ext cx="3200400" cy="86868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5367528"/>
            <a:ext cx="30175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Demo &amp; QA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23360" y="5321808"/>
            <a:ext cx="27432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 i="0">
                <a:solidFill>
                  <a:srgbClr val="595959"/>
                </a:solidFill>
                <a:latin typeface="Calibri"/>
              </a:rPr>
              <a:t>Lead + rotating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0" y="5321808"/>
            <a:ext cx="48463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 i="0">
                <a:solidFill>
                  <a:srgbClr val="1F3864"/>
                </a:solidFill>
                <a:latin typeface="Calibri"/>
              </a:rPr>
              <a:t>Demo script, hammer tenant isolation, keep scope honest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595959"/>
                </a:solidFill>
                <a:latin typeface="Calibri"/>
              </a:rPr>
              <a:t>Service Desk Ticketing System  ·  APEX Hackathon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Decisions to make today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13232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>
                <a:solidFill>
                  <a:srgbClr val="D9E1F2"/>
                </a:solidFill>
                <a:latin typeface="Calibri"/>
              </a:rPr>
              <a:t>I have a recommended default for each — we just confirm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000" b="0">
                <a:solidFill>
                  <a:srgbClr val="1F3864"/>
                </a:solidFill>
                <a:latin typeface="Calibri"/>
              </a:rPr>
              <a:t>• A · Agent self-assigns, or only Admin assigns?  → CONFIRMED: both — agents self-assign + Admin assigns/reassigns</a:t>
            </a:r>
          </a:p>
          <a:p>
            <a:pPr>
              <a:spcAft>
                <a:spcPts val="1400"/>
              </a:spcAft>
            </a:pPr>
            <a:r>
              <a:rPr sz="2000" b="0">
                <a:solidFill>
                  <a:srgbClr val="1F3864"/>
                </a:solidFill>
                <a:latin typeface="Calibri"/>
              </a:rPr>
              <a:t>• B · Include On Hold + Reopen now?  → Minimal first, add if time</a:t>
            </a:r>
          </a:p>
          <a:p>
            <a:pPr>
              <a:spcAft>
                <a:spcPts val="1400"/>
              </a:spcAft>
            </a:pPr>
            <a:r>
              <a:rPr sz="2000" b="0">
                <a:solidFill>
                  <a:srgbClr val="1F3864"/>
                </a:solidFill>
                <a:latin typeface="Calibri"/>
              </a:rPr>
              <a:t>• C · Tenant isolation = app item + WHERE + auth schemes?  → Yes</a:t>
            </a:r>
          </a:p>
          <a:p>
            <a:pPr>
              <a:spcAft>
                <a:spcPts val="1400"/>
              </a:spcAft>
            </a:pPr>
            <a:r>
              <a:rPr sz="2000" b="0">
                <a:solidFill>
                  <a:srgbClr val="1F3864"/>
                </a:solidFill>
                <a:latin typeface="Calibri"/>
              </a:rPr>
              <a:t>• D · Confirm MUST / SHOULD / COULD scope</a:t>
            </a:r>
          </a:p>
          <a:p>
            <a:pPr>
              <a:spcAft>
                <a:spcPts val="1400"/>
              </a:spcAft>
            </a:pPr>
            <a:r>
              <a:rPr sz="2000" b="0">
                <a:solidFill>
                  <a:srgbClr val="1F3864"/>
                </a:solidFill>
                <a:latin typeface="Calibri"/>
              </a:rPr>
              <a:t>• E · Confirm who owns what</a:t>
            </a:r>
          </a:p>
          <a:p>
            <a:pPr>
              <a:spcAft>
                <a:spcPts val="1400"/>
              </a:spcAft>
            </a:pPr>
            <a:r>
              <a:rPr sz="2000" b="0">
                <a:solidFill>
                  <a:srgbClr val="1F3864"/>
                </a:solidFill>
                <a:latin typeface="Calibri"/>
              </a:rPr>
              <a:t>• F · Confirm the 3-week milestones</a:t>
            </a:r>
          </a:p>
          <a:p>
            <a:pPr>
              <a:spcAft>
                <a:spcPts val="1400"/>
              </a:spcAft>
            </a:pPr>
            <a:r>
              <a:rPr sz="2000" b="0">
                <a:solidFill>
                  <a:srgbClr val="1F3864"/>
                </a:solidFill>
                <a:latin typeface="Calibri"/>
              </a:rPr>
              <a:t>• G · Escalate action only, or add Tier-2/Lead roles?  → Action only</a:t>
            </a:r>
          </a:p>
          <a:p>
            <a:pPr>
              <a:spcAft>
                <a:spcPts val="1400"/>
              </a:spcAft>
            </a:pPr>
            <a:r>
              <a:rPr sz="2000" b="0">
                <a:solidFill>
                  <a:srgbClr val="1F3864"/>
                </a:solidFill>
                <a:latin typeface="Calibri"/>
              </a:rPr>
              <a:t>• H · Adopt the 4 new SHOULD items (CSAT, analytics, auto-ack, escalate)?  → Yes</a:t>
            </a:r>
          </a:p>
          <a:p>
            <a:pPr>
              <a:spcAft>
                <a:spcPts val="1400"/>
              </a:spcAft>
            </a:pPr>
            <a:r>
              <a:rPr sz="2000" b="0">
                <a:solidFill>
                  <a:srgbClr val="1F3864"/>
                </a:solidFill>
                <a:latin typeface="Calibri"/>
              </a:rPr>
              <a:t>• I · Agents see all clients, or only their projects?  → Scoped to assigned projects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595959"/>
                </a:solidFill>
                <a:latin typeface="Calibri"/>
              </a:rPr>
              <a:t>Service Desk Ticketing System  ·  APEX Hackathon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46888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Let's build it.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356616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>
                <a:solidFill>
                  <a:srgbClr val="D9E1F2"/>
                </a:solidFill>
                <a:latin typeface="Calibri"/>
              </a:rPr>
              <a:t>Lock the requirements &amp; data model today → start building tomorrow.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