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8" r:id="rId19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Service Desk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D9E1F2"/>
                </a:solidFill>
                <a:latin typeface="Calibri"/>
              </a:rPr>
              <a:t>A multi-tenant support desk we build &amp; own — on Oracle APEX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D9E1F2"/>
                </a:solidFill>
                <a:latin typeface="Calibri"/>
              </a:rPr>
              <a:t>Team kickoff  ·  3-week hackathon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we're building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9E1F2"/>
                </a:solidFill>
                <a:latin typeface="Calibri"/>
              </a:rPr>
              <a:t>The pitch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Tools like Jira Service Management are expensive — recurring per-agent cost.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We are a vendor: we support multiple client companies every day.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Build our own service desk on APEX → own it, brand it, extend it, stop paying.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– APEX is the right tool: built-in login, role-based access &amp; reporting.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1F3864"/>
                </a:solidFill>
                <a:latin typeface="Calibri"/>
              </a:rPr>
              <a:t>– Strong story for the judges: real business value, not a toy.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Service Desk Ticketing System  ·  APEX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we're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9E1F2"/>
                </a:solidFill>
                <a:latin typeface="Calibri"/>
              </a:rPr>
              <a:t>Multi-tenant = many client companies, isolated from each 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F3864"/>
                </a:solidFill>
                <a:latin typeface="Calibri"/>
              </a:rPr>
              <a:t>Clients raise tickets → our agents triage, assign &amp; resolve → managers oversee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2697480" cy="10972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Role-based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468880"/>
            <a:ext cx="2697480" cy="10972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Multiple companies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468880"/>
            <a:ext cx="2697480" cy="10972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Ticket assignment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2468880"/>
            <a:ext cx="2697480" cy="10972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Calibri"/>
              </a:rPr>
              <a:t>↑ The four things the judges explicitly asked for. These are non-negotiable.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5500D"/>
                </a:solidFill>
                <a:latin typeface="Calibri"/>
              </a:rPr>
              <a:t>Most important rule: a client must NEVER see another client's tickets.
That single guarantee is what makes a judge believe "production-level".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Service Desk Ticketing System  ·  APEX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Four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9E1F2"/>
                </a:solidFill>
                <a:latin typeface="Calibri"/>
              </a:rPr>
              <a:t>Who can see and do what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468880" cy="105156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Client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D9E1F2"/>
                </a:solidFill>
                <a:latin typeface="Calibri"/>
              </a:rPr>
              <a:t>Client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463040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Sees only their OWN tickets. Raise, comment, track.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78608"/>
            <a:ext cx="2468880" cy="105156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8833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Client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553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D9E1F2"/>
                </a:solidFill>
                <a:latin typeface="Calibri"/>
              </a:rPr>
              <a:t>Client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70048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Sees ALL of their company's tickets. Oversees their staff.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85616"/>
            <a:ext cx="2468880" cy="105156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95344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Support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5254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D9E1F2"/>
                </a:solidFill>
                <a:latin typeface="Calibri"/>
              </a:rPr>
              <a:t>Our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877056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Works tickets for their ASSIGNED PROJECTS only (clients they cover): status, comments, resolve.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92624"/>
            <a:ext cx="2468880" cy="105156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0235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System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5955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D9E1F2"/>
                </a:solidFill>
                <a:latin typeface="Calibri"/>
              </a:rPr>
              <a:t>Our 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084064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Everything: manage companies/users, ASSIGN tickets, dashboards.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Service Desk Ticketing System  ·  APEX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we'll work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9E1F2"/>
                </a:solidFill>
                <a:latin typeface="Calibri"/>
              </a:rPr>
              <a:t>The order we design in — each step feeds the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" cy="914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Calibri"/>
              </a:rPr>
              <a:t>1.  Functional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463040"/>
            <a:ext cx="6035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  <a:latin typeface="Calibri"/>
              </a:rPr>
              <a:t>WHAT the system must let people do — the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109728" cy="914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Calibri"/>
              </a:rPr>
              <a:t>2. 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560320"/>
            <a:ext cx="6035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  <a:latin typeface="Calibri"/>
              </a:rPr>
              <a:t>How a ticket behaves from New → Closed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109728" cy="914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Calibri"/>
              </a:rPr>
              <a:t>3. 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657600"/>
            <a:ext cx="6035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  <a:latin typeface="Calibri"/>
              </a:rPr>
              <a:t>The tables that store it (APEX is database-first)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54880"/>
            <a:ext cx="109728" cy="914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Calibri"/>
              </a:rPr>
              <a:t>4.  Goals &amp;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754880"/>
            <a:ext cx="6035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  <a:latin typeface="Calibri"/>
              </a:rPr>
              <a:t>Only then: split the work across the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Service Desk Ticketing System  ·  APEX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Scope — what's in, what's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9E1F2"/>
                </a:solidFill>
                <a:latin typeface="Calibri"/>
              </a:rPr>
              <a:t>Protect a working demo over adding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592883" cy="640080"/>
          </a:xfrm>
          <a:prstGeom prst="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26464"/>
            <a:ext cx="25928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5928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  <a:latin typeface="Calibri"/>
              </a:rPr>
              <a:t>This IS the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31856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Companies + projects + users + roles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Login &amp; tenant isolation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Create / view / edit ticket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Assign to an agent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Comments + history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Dashboard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Ticket type: Incident / Service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2963" y="1371600"/>
            <a:ext cx="2592883" cy="64008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2963" y="1426464"/>
            <a:ext cx="25928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2963" y="2057400"/>
            <a:ext cx="25928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  <a:latin typeface="Calibri"/>
              </a:rPr>
              <a:t>Breadth + polish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123" y="2560320"/>
            <a:ext cx="231856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Categories &amp; priorities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Filtering &amp; search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Branded UI theme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Assignment notification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CSAT rating (stars)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Dashboard analytics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Auto-ack email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Reassign to higher tier (L1-L4)
• Auto-escalation on SLA breach (two-stage, per-project threshold, ITIL 4)
• SLA per severity per project (breach indicators)
• Status-change notifications (ITIL)
• Resolution code + summary on Resolve\n• Triage gate (priority before In Progress)
• First-response time tracking
• SLA Compliance % KPI
• Workload in assignment LOV
• Severity guidance on create 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5846" y="1371600"/>
            <a:ext cx="2592883" cy="640080"/>
          </a:xfrm>
          <a:prstGeom prst="rect">
            <a:avLst/>
          </a:prstGeom>
          <a:solidFill>
            <a:srgbClr val="C55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5846" y="1426464"/>
            <a:ext cx="25928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COULD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846" y="2057400"/>
            <a:ext cx="25928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  <a:latin typeface="Calibri"/>
              </a:rPr>
              <a:t>Only if ahead of schedule — don't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06" y="2560320"/>
            <a:ext cx="231856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AI category suggest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File / screenshot attachments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Service Desk Ticketing System  ·  APEX Service 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8729" y="1371600"/>
            <a:ext cx="2592883" cy="640080"/>
          </a:xfrm>
          <a:prstGeom prst="rect">
            <a:avLst/>
          </a:prstGeom>
          <a:solidFill>
            <a:srgbClr val="5B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8729" y="1426464"/>
            <a:ext cx="25928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8729" y="2057400"/>
            <a:ext cx="25928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  <a:latin typeface="Calibri"/>
              </a:rPr>
              <a:t>Out of scope for demo — ITIL production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5889" y="2560320"/>
            <a:ext cx="231856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VPD / RLS row security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Real SLA engine (timers)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Object-storage attachments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Project Lead role (is_lead)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Email-to-ticket intake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SSO / directory login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KB portal &amp; integrations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Ticket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9E1F2"/>
                </a:solidFill>
                <a:latin typeface="Calibri"/>
              </a:rPr>
              <a:t>The life of a ticket — every change is logged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965960" cy="914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3347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5603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377440"/>
            <a:ext cx="1965960" cy="914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63347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5603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377440"/>
            <a:ext cx="1965960" cy="914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63347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5603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377440"/>
            <a:ext cx="1965960" cy="914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63347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Resolved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5603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2377440"/>
            <a:ext cx="1965960" cy="914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63347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Closed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Calibri"/>
              </a:rPr>
              <a:t>Optional extras (decide today): On Hold (pause) · Reopen (client says not fixed)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864"/>
                </a:solidFill>
                <a:latin typeface="Calibri"/>
              </a:rPr>
              <a:t>• Client raises → Admin assigns an agent → agent works &amp; resolves → client confirms close.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864"/>
                </a:solidFill>
                <a:latin typeface="Calibri"/>
              </a:rPr>
              <a:t>• Only certain roles can make each move. Every move is written to ticket history.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Service Desk Ticketing System  ·  APEX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 model (7 tables)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9E1F2"/>
                </a:solidFill>
                <a:latin typeface="Calibri"/>
              </a:rPr>
              <a:t>Get this right and the screens almost build themselves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926080" cy="6035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COMPANIES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17320"/>
            <a:ext cx="7863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vendor + each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9967"/>
            <a:ext cx="2926080" cy="6035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3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APP_USERS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075687"/>
            <a:ext cx="7863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everyone who logs in (role + company)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88336"/>
            <a:ext cx="2926080" cy="6035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0720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TICKETS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734056"/>
            <a:ext cx="7863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the requests (the tenant key lives here)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46704"/>
            <a:ext cx="2926080" cy="6035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655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TICKET_COMMENTS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392424"/>
            <a:ext cx="7863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the conversation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05072"/>
            <a:ext cx="2926080" cy="6035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2394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TICKET_HISTORY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050791"/>
            <a:ext cx="7863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audit trail of every 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63440"/>
            <a:ext cx="2926080" cy="6035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823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709159"/>
            <a:ext cx="7863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ticket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5500D"/>
                </a:solidFill>
                <a:latin typeface="Calibri"/>
              </a:rPr>
              <a:t>Every ticket carries a company_id — that keeps clients isolated. Agents are further scoped to their projects via AGENT_COMPANIES.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Service Desk Ticketing System  ·  APEX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21808"/>
            <a:ext cx="2926080" cy="6035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AGENT_COMPANIES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5367528"/>
            <a:ext cx="7863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libri"/>
              </a:rPr>
              <a:t>which clients (projects) each agent covers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APEX page architecture — the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D9E1F2"/>
                </a:solidFill>
                <a:latin typeface="Calibri"/>
              </a:rPr>
              <a:t>One page serves many roles · authorization + WHERE company_id · 12 pages → 10 MUST, 2 SHOULD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371600"/>
          <a:ext cx="11018520" cy="4443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365760"/>
                <a:gridCol w="2331720"/>
                <a:gridCol w="2514600"/>
                <a:gridCol w="3611880"/>
                <a:gridCol w="7772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anchor="ctr" marL="64008" marR="45720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64008" marR="45720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 anchor="ctr" marL="64008" marR="45720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APEX page type</a:t>
                      </a:r>
                    </a:p>
                  </a:txBody>
                  <a:tcPr anchor="ctr" marL="64008" marR="45720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Who · scope</a:t>
                      </a:r>
                    </a:p>
                  </a:txBody>
                  <a:tcPr anchor="ctr" marL="64008" marR="45720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anchor="ctr" marL="64008" marR="45720" marT="18288" marB="18288">
                    <a:solidFill>
                      <a:srgbClr val="1F3864"/>
                    </a:solidFill>
                  </a:tcPr>
                </a:tc>
              </a:tr>
              <a:tr h="338328">
                <a:tc rowSpan="2"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Auth &amp; Shell</a:t>
                      </a:r>
                    </a:p>
                  </a:txBody>
                  <a:tcPr anchor="ctr" marL="64008" marR="45720" marT="18288" marB="18288"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Login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Login Page (built-in)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All roles · Shared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6B3A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64008" marR="45720" marT="18288" marB="18288">
                    <a:solidFill>
                      <a:srgbClr val="C6EFCE"/>
                    </a:solidFill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Home / Landing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Blank / redirect or Cards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All roles · Shared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6B3A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64008" marR="45720" marT="18288" marB="18288">
                    <a:solidFill>
                      <a:srgbClr val="C6EFC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anchor="ctr" marL="64008" marR="45720" marT="18288" marB="18288"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Cards + Chart regions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All roles · Shared, role-filtered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6B3A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64008" marR="45720" marT="18288" marB="18288">
                    <a:solidFill>
                      <a:srgbClr val="C6EFCE"/>
                    </a:solidFill>
                  </a:tcPr>
                </a:tc>
              </a:tr>
              <a:tr h="338328">
                <a:tc rowSpan="5"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Tickets — the core</a:t>
                      </a:r>
                    </a:p>
                  </a:txBody>
                  <a:tcPr anchor="ctr" marL="64008" marR="45720" marT="18288" marB="18288"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Ticket List / Queue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Faceted Search (or IR)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All roles · Shared, filtered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6B3A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64008" marR="45720" marT="18288" marB="18288">
                    <a:solidFill>
                      <a:srgbClr val="C6EFCE"/>
                    </a:solidFill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Ticket Detail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Form + Comments &amp; History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All roles · Shared, gated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6B3A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64008" marR="45720" marT="18288" marB="18288">
                    <a:solidFill>
                      <a:srgbClr val="C6EFCE"/>
                    </a:solidFill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Create / Raise Ticket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Form (Modal Dialog)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Client User / Admin · Role-specific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6B3A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64008" marR="45720" marT="18288" marB="18288">
                    <a:solidFill>
                      <a:srgbClr val="C6EFCE"/>
                    </a:solidFill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Assign / Reassign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Form (Modal Dialog)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System Admin · Role-specific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6B3A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64008" marR="45720" marT="18288" marB="18288">
                    <a:solidFill>
                      <a:srgbClr val="C6EFCE"/>
                    </a:solidFill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Add Comment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Form (Modal Dialog)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All roles · Shared, gated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6B3A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64008" marR="45720" marT="18288" marB="18288">
                    <a:solidFill>
                      <a:srgbClr val="C6EFCE"/>
                    </a:solidFill>
                  </a:tcPr>
                </a:tc>
              </a:tr>
              <a:tr h="338328">
                <a:tc rowSpan="2"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anchor="ctr" marL="64008" marR="45720" marT="18288" marB="18288"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Companies (manage)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Interactive Grid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System Admin only · Role-specific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6B3A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64008" marR="45720" marT="18288" marB="18288">
                    <a:solidFill>
                      <a:srgbClr val="C6EFCE"/>
                    </a:solidFill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Users (manage)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Interactive Grid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System Admin only · Role-specific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6B3A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64008" marR="45720" marT="18288" marB="18288">
                    <a:solidFill>
                      <a:srgbClr val="C6EFCE"/>
                    </a:solidFill>
                  </a:tcPr>
                </a:tc>
              </a:tr>
              <a:tr h="338328">
                <a:tc rowSpan="2"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Supporting</a:t>
                      </a:r>
                    </a:p>
                  </a:txBody>
                  <a:tcPr anchor="ctr" marL="64008" marR="45720" marT="18288" marB="18288"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Categories (manage)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Interactive Grid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System Admin · Role-specific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7A5C00"/>
                          </a:solidFill>
                          <a:latin typeface="Calibri"/>
                        </a:rPr>
                        <a:t>SHOULD</a:t>
                      </a:r>
                    </a:p>
                  </a:txBody>
                  <a:tcPr anchor="ctr" marL="64008" marR="45720" marT="18288" marB="18288">
                    <a:solidFill>
                      <a:srgbClr val="FFEB9C"/>
                    </a:solidFill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549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My Profile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A4A"/>
                          </a:solidFill>
                          <a:latin typeface="Calibri"/>
                        </a:rPr>
                        <a:t>All roles · Shared</a:t>
                      </a:r>
                    </a:p>
                  </a:txBody>
                  <a:tcPr anchor="ctr" marL="64008" marR="45720" marT="18288" marB="18288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7A5C00"/>
                          </a:solidFill>
                          <a:latin typeface="Calibri"/>
                        </a:rPr>
                        <a:t>SHOULD</a:t>
                      </a:r>
                    </a:p>
                  </a:txBody>
                  <a:tcPr anchor="ctr" marL="64008" marR="45720" marT="18288" marB="18288">
                    <a:solidFill>
                      <a:srgbClr val="FFEB9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C5500D"/>
                </a:solidFill>
                <a:latin typeface="Calibri"/>
              </a:rPr>
              <a:t>Demo needs only the 10 MUST pages. Status changes, comments &amp; history = buttons/regions on Ticket Detail — not pages.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Service Desk Ticketing System  ·  APEX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3-week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9E1F2"/>
                </a:solidFill>
                <a:latin typeface="Calibri"/>
              </a:rPr>
              <a:t>Always have something that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611880" cy="6858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Week 1 —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Data model + login + roles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Tenant isolation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One end-to-end slice: raise → view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Goal: prove the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3611880" cy="6858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44752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Week 2 — Core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Assignment + full workflow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Comments + history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Ticket lists + dashboard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Goal: all MUSTs done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611880" cy="6858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44752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Week 3 — Polish &amp;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4028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Categories, filtering, theme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Notifications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Hard testing (isolation!)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3864"/>
                </a:solidFill>
                <a:latin typeface="Calibri"/>
              </a:rPr>
              <a:t>• Goal: rehearse a flawless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Service Desk Ticketing System  ·  APEX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Who owns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9E1F2"/>
                </a:solidFill>
                <a:latin typeface="Calibri"/>
              </a:rPr>
              <a:t>Mixed team — everyone owns something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200400" cy="8686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 model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37160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Strongest dev(s)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4846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3864"/>
                </a:solidFill>
                <a:latin typeface="Calibri"/>
              </a:rPr>
              <a:t>Tables, login, roles, isolation — do 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13432"/>
            <a:ext cx="3200400" cy="8686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Ticket screens &amp;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59152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Dev(s)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59152"/>
            <a:ext cx="4846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3864"/>
                </a:solidFill>
                <a:latin typeface="Calibri"/>
              </a:rPr>
              <a:t>Create/view/edit, assign, status, comments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00984"/>
            <a:ext cx="3200400" cy="8686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92424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Dashboard &amp;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346704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Dev or confident non-dev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346704"/>
            <a:ext cx="4846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3864"/>
                </a:solidFill>
                <a:latin typeface="Calibri"/>
              </a:rPr>
              <a:t>Charts + filtered lists (mostly declarative)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88536"/>
            <a:ext cx="3200400" cy="8686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79976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UI/UX, theme &amp; test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334256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Non-dev(s)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34256"/>
            <a:ext cx="4846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3864"/>
                </a:solidFill>
                <a:latin typeface="Calibri"/>
              </a:rPr>
              <a:t>Branding, navigation, realistic sample data, testing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76088"/>
            <a:ext cx="3200400" cy="8686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67528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Demo &amp;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321808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Lead + rotating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321808"/>
            <a:ext cx="4846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3864"/>
                </a:solidFill>
                <a:latin typeface="Calibri"/>
              </a:rPr>
              <a:t>Demo script, hammer tenant isolation, keep scope honest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Service Desk Ticketing System  ·  APEX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Decisions to make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9E1F2"/>
                </a:solidFill>
                <a:latin typeface="Calibri"/>
              </a:rPr>
              <a:t>I have a recommended default for each — we just confirm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A · Agent self-assigns, or only Admin assigns?  → CONFIRMED: both — agents self-assign + Admin assigns/reassigns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B · Include On Hold + Reopen now?  → Minimal first, add if time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C · Tenant isolation = app item + WHERE + auth schemes?  → Yes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D · Confirm MUST / SHOULD / COULD scope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E · Confirm who owns what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F · Confirm the 3-week milestones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G · Escalate action only, or add Tier-2/Lead roles?  → Action only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H · Adopt the 4 new SHOULD items (CSAT, analytics, auto-ack, escalate)?  → Yes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F3864"/>
                </a:solidFill>
                <a:latin typeface="Calibri"/>
              </a:rPr>
              <a:t>• I · Agents see all clients, or only their projects?  → Scoped to assigned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Service Desk Ticketing System  ·  APEX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Let's build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9E1F2"/>
                </a:solidFill>
                <a:latin typeface="Calibri"/>
              </a:rPr>
              <a:t>Lock the requirements &amp; data model today → start building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